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5" r:id="rId4"/>
  </p:sldMasterIdLst>
  <p:notesMasterIdLst>
    <p:notesMasterId r:id="rId25"/>
  </p:notesMasterIdLst>
  <p:handoutMasterIdLst>
    <p:handoutMasterId r:id="rId26"/>
  </p:handoutMasterIdLst>
  <p:sldIdLst>
    <p:sldId id="256" r:id="rId5"/>
    <p:sldId id="295" r:id="rId6"/>
    <p:sldId id="258" r:id="rId7"/>
    <p:sldId id="294" r:id="rId8"/>
    <p:sldId id="296" r:id="rId9"/>
    <p:sldId id="286" r:id="rId10"/>
    <p:sldId id="297" r:id="rId11"/>
    <p:sldId id="289" r:id="rId12"/>
    <p:sldId id="298" r:id="rId13"/>
    <p:sldId id="299" r:id="rId14"/>
    <p:sldId id="304" r:id="rId15"/>
    <p:sldId id="287" r:id="rId16"/>
    <p:sldId id="290" r:id="rId17"/>
    <p:sldId id="301" r:id="rId18"/>
    <p:sldId id="300" r:id="rId19"/>
    <p:sldId id="302" r:id="rId20"/>
    <p:sldId id="291" r:id="rId21"/>
    <p:sldId id="292" r:id="rId22"/>
    <p:sldId id="293" r:id="rId23"/>
    <p:sldId id="303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92" autoAdjust="0"/>
    <p:restoredTop sz="83204" autoAdjust="0"/>
  </p:normalViewPr>
  <p:slideViewPr>
    <p:cSldViewPr snapToGrid="0">
      <p:cViewPr>
        <p:scale>
          <a:sx n="42" d="100"/>
          <a:sy n="42" d="100"/>
        </p:scale>
        <p:origin x="380" y="1236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8/12/2024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Why?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To learn more about aircraft design and optimization</a:t>
            </a:r>
          </a:p>
          <a:p>
            <a:pPr marL="628650" marR="0" lvl="1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I haven’t had much experience with these sorts of problems, and so it’s been a tremendous learning experience. </a:t>
            </a:r>
          </a:p>
          <a:p>
            <a:r>
              <a:rPr lang="en-US" dirty="0"/>
              <a:t>What?</a:t>
            </a:r>
          </a:p>
          <a:p>
            <a:pPr marL="171450" indent="-171450">
              <a:buFontTx/>
              <a:buChar char="-"/>
            </a:pPr>
            <a:r>
              <a:rPr lang="en-US" dirty="0"/>
              <a:t>2-dimensional airfoils (wing sections; panel method)</a:t>
            </a:r>
          </a:p>
          <a:p>
            <a:pPr marL="171450" indent="-171450">
              <a:buFontTx/>
              <a:buChar char="-"/>
            </a:pPr>
            <a:r>
              <a:rPr lang="en-US" dirty="0"/>
              <a:t>Airframe design (vortex lattice method)</a:t>
            </a:r>
          </a:p>
          <a:p>
            <a:pPr marL="171450" indent="-171450">
              <a:buFontTx/>
              <a:buChar char="-"/>
            </a:pPr>
            <a:r>
              <a:rPr lang="en-US" dirty="0"/>
              <a:t>Optimizing a wing to minimize induced drag (VLM and an optimizer)</a:t>
            </a:r>
          </a:p>
          <a:p>
            <a:pPr marL="171450" indent="-171450">
              <a:buFontTx/>
              <a:buChar char="-"/>
            </a:pPr>
            <a:endParaRPr lang="en-US" dirty="0"/>
          </a:p>
          <a:p>
            <a:pPr marL="0" indent="0">
              <a:buFontTx/>
              <a:buNone/>
            </a:pPr>
            <a:r>
              <a:rPr lang="en-US" dirty="0"/>
              <a:t>Transition: let’s take a look at 2-dimensional airfoils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want to figure out the properties of this airfoil</a:t>
            </a:r>
          </a:p>
          <a:p>
            <a:pPr marL="171450" indent="-171450">
              <a:buFontTx/>
              <a:buChar char="-"/>
            </a:pPr>
            <a:r>
              <a:rPr lang="en-US" dirty="0"/>
              <a:t>Employ a panel method 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make a bunch of panels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Assume inviscid flow and the </a:t>
            </a:r>
            <a:r>
              <a:rPr lang="en-US" dirty="0" err="1"/>
              <a:t>Kutta</a:t>
            </a:r>
            <a:r>
              <a:rPr lang="en-US" dirty="0"/>
              <a:t> condition at the trailing edge, among other important assumptions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Model shape of the airfoil using solutions to the Laplace equation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For </a:t>
            </a:r>
            <a:r>
              <a:rPr lang="en-US" dirty="0" err="1"/>
              <a:t>Xfoil.jl</a:t>
            </a:r>
            <a:r>
              <a:rPr lang="en-US" dirty="0"/>
              <a:t>, we use vortices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Calculate the circulation which is proportional to the lift, drag, etc.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27505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Calculate dimensionless coefficients across a range of angles of attack.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Increasing angle of attack increases lift and drag until stall</a:t>
            </a:r>
          </a:p>
          <a:p>
            <a:pPr marL="1085850" marR="0" lvl="2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 err="1"/>
              <a:t>XFoil</a:t>
            </a:r>
            <a:r>
              <a:rPr lang="en-US" dirty="0"/>
              <a:t> actually includes corrections that predict stall to a certain extent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At stall lift decreases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Drag increases sharply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SKIP: at high alpha, r x F may partially explain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954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Reynolds number is ratio of inertial forces to viscous forces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For inviscid flows, mu approaches 0 and Re approaches infinity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10699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Xfoil</a:t>
            </a:r>
            <a:r>
              <a:rPr lang="en-US" dirty="0"/>
              <a:t> assumptions</a:t>
            </a:r>
          </a:p>
          <a:p>
            <a:pPr marL="171450" indent="-171450">
              <a:buFontTx/>
              <a:buChar char="-"/>
            </a:pPr>
            <a:r>
              <a:rPr lang="en-US" dirty="0"/>
              <a:t>Inviscid irrotational flow / </a:t>
            </a:r>
            <a:r>
              <a:rPr lang="en-US" dirty="0" err="1"/>
              <a:t>kutta</a:t>
            </a:r>
            <a:r>
              <a:rPr lang="en-US" dirty="0"/>
              <a:t> condition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Struggles at accurate predictions for high angle of attack (flow separation)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7030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Thick airfoils generate smaller lift coefficients, but have softer stall</a:t>
            </a:r>
          </a:p>
          <a:p>
            <a:pPr marL="171450" indent="-171450">
              <a:buFontTx/>
              <a:buChar char="-"/>
            </a:pPr>
            <a:r>
              <a:rPr lang="en-US" dirty="0"/>
              <a:t>Extremely thin airfoils have numerical instability. Possible explanations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Leading edge may trip flow separation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Panels so close together may be too close to r=0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3606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Increasing camber shifts airfoil polars</a:t>
            </a:r>
          </a:p>
          <a:p>
            <a:pPr marL="171450" indent="-171450">
              <a:buFontTx/>
              <a:buChar char="-"/>
            </a:pPr>
            <a:r>
              <a:rPr lang="en-US" dirty="0"/>
              <a:t>For low angles of attack, cambered airfoils have higher lift/drag ratios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Flaps and slats to increase lift when increasing angle of attack isn’t practical.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2898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lets look at an airframe. How do we analyze it?</a:t>
            </a:r>
          </a:p>
          <a:p>
            <a:pPr marL="171450" indent="-171450">
              <a:buFontTx/>
              <a:buChar char="-"/>
            </a:pPr>
            <a:r>
              <a:rPr lang="en-US" dirty="0"/>
              <a:t>Vortex Lattice Method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Can’t just use panel method because of wing tip vortices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Vortex filaments for variable circulation</a:t>
            </a:r>
          </a:p>
          <a:p>
            <a:pPr marL="0" indent="0">
              <a:buFontTx/>
              <a:buNone/>
            </a:pP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VortexLattice.jl</a:t>
            </a:r>
            <a:endParaRPr lang="en-US" dirty="0"/>
          </a:p>
          <a:p>
            <a:pPr marL="628650" lvl="1" indent="-171450">
              <a:buFontTx/>
              <a:buChar char="-"/>
            </a:pPr>
            <a:r>
              <a:rPr lang="en-US" dirty="0"/>
              <a:t>Aspect ratio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Tail volume and Stability </a:t>
            </a:r>
          </a:p>
          <a:p>
            <a:pPr marL="1085850" lvl="2" indent="-171450">
              <a:buFontTx/>
              <a:buChar char="-"/>
            </a:pPr>
            <a:r>
              <a:rPr lang="en-US" dirty="0"/>
              <a:t>Note how in this picture we have a large horizontal stabilizer and a small one. How does that affect the aircraft?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limitations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292119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Increasing the length of the wing increases the lift to drag ratio</a:t>
            </a:r>
          </a:p>
          <a:p>
            <a:pPr marL="171450" indent="-171450">
              <a:buFontTx/>
              <a:buChar char="-"/>
            </a:pPr>
            <a:r>
              <a:rPr lang="en-US" dirty="0"/>
              <a:t>Practical considerations often override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3155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628650" lvl="1" indent="-171450">
              <a:buFontTx/>
              <a:buChar char="-"/>
            </a:pPr>
            <a:r>
              <a:rPr lang="en-US" dirty="0"/>
              <a:t>Tail volume is, roughly speaking, the ratio of the aerodynamic influence of the tail to the influence of the wing.</a:t>
            </a:r>
          </a:p>
          <a:p>
            <a:pPr marL="628650" lvl="1" indent="-171450">
              <a:buFontTx/>
              <a:buChar char="-"/>
            </a:pPr>
            <a:r>
              <a:rPr lang="en-US" dirty="0"/>
              <a:t>Tails that are larger or further from the aircraft’s center of gravity have a larger affect on aircraft stability. </a:t>
            </a:r>
          </a:p>
          <a:p>
            <a:pPr marL="628650" lvl="1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80856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Change in moment with respect to alpha</a:t>
            </a:r>
          </a:p>
          <a:p>
            <a:pPr marL="171450" indent="-171450">
              <a:buFontTx/>
              <a:buChar char="-"/>
            </a:pPr>
            <a:r>
              <a:rPr lang="en-US" dirty="0"/>
              <a:t>Change in roll with respect to beta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220804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Change in yaw with respect to beta</a:t>
            </a:r>
          </a:p>
          <a:p>
            <a:pPr marL="171450" indent="-171450">
              <a:buFontTx/>
              <a:buChar char="-"/>
            </a:pPr>
            <a:r>
              <a:rPr lang="en-US" dirty="0"/>
              <a:t>Change in pitching moment with respect to alpha (note the significantly smaller scale)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930613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Limitations of VLM</a:t>
            </a:r>
          </a:p>
          <a:p>
            <a:pPr marL="171450" indent="-171450">
              <a:buFontTx/>
              <a:buChar char="-"/>
            </a:pPr>
            <a:r>
              <a:rPr lang="en-US" dirty="0"/>
              <a:t>Small angles of attack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lang="en-US" dirty="0"/>
              <a:t>Flat plate solution (thin wing)</a:t>
            </a:r>
          </a:p>
          <a:p>
            <a:pPr marL="171450" indent="-171450">
              <a:buFontTx/>
              <a:buChar char="-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9086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Gradient based optimizers calculate numerical derivatives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3306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76534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Problem: optimizer is struggling to find a practical solution. </a:t>
            </a:r>
          </a:p>
          <a:p>
            <a:r>
              <a:rPr lang="en-US" dirty="0"/>
              <a:t>Impose monotonicity.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94544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Increase number of panels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21643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en-US" dirty="0"/>
              <a:t>The chord distribution is direction proportional to the circulation</a:t>
            </a:r>
          </a:p>
          <a:p>
            <a:pPr marL="171450" indent="-171450">
              <a:buFontTx/>
              <a:buChar char="-"/>
            </a:pPr>
            <a:r>
              <a:rPr lang="en-US" dirty="0"/>
              <a:t>Comparison to the analytical solution looks promising!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79063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9389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3D159-0917-4238-DF19-425F5AB69F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A3BDDE-357D-A62B-ADBE-5D064D513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071C5-28F8-B854-1424-CF0A475F4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DD47A6-98FE-E86F-DC44-FA9DEA4F2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1E010F-AFBC-55C1-F802-554043723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759753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6F8657-B379-24AD-958E-F9C604D0A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42D90-450E-29B8-4AF1-E743DE550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FDC6C5-8E06-0351-E4F1-C8CF83392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4E6736-C83D-50F0-1D78-7F2DD220F0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9054E-8C30-7F59-C668-3F5194F21F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74466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430FF-70B0-C533-433C-9278424C8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7940F1-A45E-608E-CC31-293E5F1E97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06942-4535-FB3F-EB77-C6BDA7DCE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CFF9ED-0859-AFA8-8A94-1E71C2491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9CB220-3A05-AC2A-4703-36309C9FC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63946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2E856-7C7F-B6D8-B399-CFE7943341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70B1B-CB7F-CB6E-46C8-A142667A2FE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FD7B4-473E-DFC8-F0A1-A6BC87C7E0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0EBDFA-D1F7-16B2-0526-C523F2BC2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93787D-D806-C001-2619-8A8950091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DE569-E41F-C3B5-F222-5377A4434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19159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89D22-011B-10D3-C094-FACFCF7E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7FA060-DF5E-F007-6667-02E4C60365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4A3A8-582F-E88A-C0E3-58E9389993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41BF45-1DBD-5689-E4F1-7C583E2375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91236E-1B27-6AFE-990B-9422B01A87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C62A89-EF97-8ADF-8E03-ADB3F8E07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0837BD4-9D21-52E9-1EC4-DB5BA9FF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5F03F2-ABBB-ED4D-BF18-E74673DE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57357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34D67D-2A79-D9EB-2A4A-A5C1634E6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180885-6CE6-EA90-7DF5-B33D36D99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CFA054-E481-58F3-59C0-FCC1EE45D2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35C564-A718-46CF-AADA-3F5FED4EF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49552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EBFD4-23CC-3D01-CF0D-5FE34F088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9E3EF1-1680-DB2B-0917-D14B49E75B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2AEE48-D752-9A98-5062-A00D6151EB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3270378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3FD26-20AF-BD2D-8922-5A3BCCFA9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D4477-82D2-D5AB-5543-A921A56079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3B6357-89C1-F4F0-580A-FBD9FDF3BC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8F0EB4-0A55-C30B-5807-A23138B063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A699DE-D7E9-3925-A369-48537051D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346984-26B8-1DC5-44EE-D2A69D6FA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4713321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1CE0D-CE58-8CE4-861B-B3F057DD53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F15AF5-0C82-0654-E3BD-9CD047FDE6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4FC2E8-B016-AE65-515A-0955A5AE03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C02B4D-C548-3E30-E07E-0D89A896B0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95FCC-C6ED-88CA-ACFA-917F5BEDD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40870A-3B06-1391-F09C-7E75FD482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6969226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0271-56D0-5747-49B5-BB8BD02F1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A6CD66-8255-786A-7CF4-EF2018608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48A833-FBDD-2923-1A2B-8F5AB1DE4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E64EC8-6F98-16DC-22C2-CE5856598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4F078C-5CD8-289D-041E-8A27A18E6E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635321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A080DE-5C86-5BD2-4A93-B8074317F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52BFA8-8183-9B55-52D7-9761AE9236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33D2F-A3F4-268A-F0C3-917E9BBB0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B64750-5D9C-407B-327F-9FE01337B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C2AB50-C9CD-039E-BA7D-5CEA9D232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3718751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65446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12722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40462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115FB6-5C86-A43B-1286-9BD10447B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49DBB1-E75D-EA4F-FAB4-0C52F5CDB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FF6CE6-9D71-E9EB-BA60-E077C0EE8F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6A32F5-2687-356B-62B2-AD677A7BA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PRESENTATION TITLE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1A2FDF-933D-C3D9-7C09-3E9113A3F5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26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87" r:id="rId12"/>
    <p:sldLayoutId id="2147483688" r:id="rId13"/>
    <p:sldLayoutId id="2147483690" r:id="rId14"/>
    <p:sldLayoutId id="2147483669" r:id="rId15"/>
    <p:sldLayoutId id="2147483670" r:id="rId16"/>
    <p:sldLayoutId id="2147483672" r:id="rId17"/>
    <p:sldLayoutId id="2147483673" r:id="rId18"/>
    <p:sldLayoutId id="2147483674" r:id="rId19"/>
    <p:sldLayoutId id="2147483653" r:id="rId20"/>
    <p:sldLayoutId id="2147483667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79649" y="1940042"/>
            <a:ext cx="7392457" cy="3200400"/>
          </a:xfrm>
        </p:spPr>
        <p:txBody>
          <a:bodyPr anchor="ctr"/>
          <a:lstStyle/>
          <a:p>
            <a:r>
              <a:rPr lang="en-US" dirty="0"/>
              <a:t>ME 497R – </a:t>
            </a:r>
            <a:br>
              <a:rPr lang="en-US" dirty="0"/>
            </a:br>
            <a:r>
              <a:rPr lang="en-US" dirty="0"/>
              <a:t>Mentored Research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4CB712-109D-9686-0B49-A4881CACB990}"/>
              </a:ext>
            </a:extLst>
          </p:cNvPr>
          <p:cNvSpPr txBox="1">
            <a:spLocks/>
          </p:cNvSpPr>
          <p:nvPr/>
        </p:nvSpPr>
        <p:spPr>
          <a:xfrm>
            <a:off x="7079649" y="4007829"/>
            <a:ext cx="2810947" cy="51181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Samuel Nasman</a:t>
            </a:r>
          </a:p>
        </p:txBody>
      </p:sp>
      <p:pic>
        <p:nvPicPr>
          <p:cNvPr id="2050" name="Picture 2" descr="a supermarine spitfire">
            <a:extLst>
              <a:ext uri="{FF2B5EF4-FFF2-40B4-BE49-F238E27FC236}">
                <a16:creationId xmlns:a16="http://schemas.microsoft.com/office/drawing/2014/main" id="{550AD979-364B-5AA6-C1DA-67279FB8A5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F78F2A-C09C-4750-A249-9200A8947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2</a:t>
            </a:fld>
            <a:endParaRPr lang="en-US" dirty="0"/>
          </a:p>
        </p:txBody>
      </p:sp>
      <p:pic>
        <p:nvPicPr>
          <p:cNvPr id="3" name="Content Placeholder 4" descr="A blue dotted line with a white background&#10;&#10;Description automatically generated">
            <a:extLst>
              <a:ext uri="{FF2B5EF4-FFF2-40B4-BE49-F238E27FC236}">
                <a16:creationId xmlns:a16="http://schemas.microsoft.com/office/drawing/2014/main" id="{48ED9B23-BD0E-F19D-5FAF-95BD06F5C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8675" y="2144116"/>
            <a:ext cx="3854650" cy="2569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1803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blue dotted line with a white background&#10;&#10;Description automatically generated">
            <a:extLst>
              <a:ext uri="{FF2B5EF4-FFF2-40B4-BE49-F238E27FC236}">
                <a16:creationId xmlns:a16="http://schemas.microsoft.com/office/drawing/2014/main" id="{9A0820C5-C3DB-000D-5ACA-9A679CE354B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2287642" y="720291"/>
            <a:ext cx="3569494" cy="2379663"/>
          </a:xfrm>
        </p:spPr>
      </p:pic>
      <p:pic>
        <p:nvPicPr>
          <p:cNvPr id="9" name="Picture 8" descr="A graph with a line&#10;&#10;Description automatically generated">
            <a:extLst>
              <a:ext uri="{FF2B5EF4-FFF2-40B4-BE49-F238E27FC236}">
                <a16:creationId xmlns:a16="http://schemas.microsoft.com/office/drawing/2014/main" id="{D816B3EF-73A3-1103-03BF-C9F93DC8B5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9770" y="3462954"/>
            <a:ext cx="3805238" cy="2536826"/>
          </a:xfrm>
          <a:prstGeom prst="rect">
            <a:avLst/>
          </a:prstGeom>
        </p:spPr>
      </p:pic>
      <p:pic>
        <p:nvPicPr>
          <p:cNvPr id="23" name="Picture 22" descr="A graph with a line&#10;&#10;Description automatically generated">
            <a:extLst>
              <a:ext uri="{FF2B5EF4-FFF2-40B4-BE49-F238E27FC236}">
                <a16:creationId xmlns:a16="http://schemas.microsoft.com/office/drawing/2014/main" id="{F38EF813-3414-52DE-BAFD-2B4AB2F865B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4613" y="784581"/>
            <a:ext cx="3669506" cy="2446337"/>
          </a:xfrm>
          <a:prstGeom prst="rect">
            <a:avLst/>
          </a:prstGeom>
        </p:spPr>
      </p:pic>
      <p:pic>
        <p:nvPicPr>
          <p:cNvPr id="25" name="Picture 24" descr="A graph with a line&#10;&#10;Description automatically generated">
            <a:extLst>
              <a:ext uri="{FF2B5EF4-FFF2-40B4-BE49-F238E27FC236}">
                <a16:creationId xmlns:a16="http://schemas.microsoft.com/office/drawing/2014/main" id="{6103CAAA-B0C2-B9C7-1983-4F38ED0DD87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301" y="3514725"/>
            <a:ext cx="3649929" cy="2433285"/>
          </a:xfrm>
          <a:prstGeom prst="rect">
            <a:avLst/>
          </a:prstGeom>
        </p:spPr>
      </p:pic>
      <p:sp>
        <p:nvSpPr>
          <p:cNvPr id="26" name="Slide Number Placeholder 1">
            <a:extLst>
              <a:ext uri="{FF2B5EF4-FFF2-40B4-BE49-F238E27FC236}">
                <a16:creationId xmlns:a16="http://schemas.microsoft.com/office/drawing/2014/main" id="{EFB6B8EA-6490-47DD-72F6-B3E7CB7F1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15163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FD8D5B-B859-D65D-81CB-43EE10016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19" name="Picture 18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6C8ED6F6-9278-EFBA-43CA-3315387CF6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5518" y="1700212"/>
            <a:ext cx="6103525" cy="405765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D236DC-F568-D10F-BB01-F194B6791E52}"/>
                  </a:ext>
                </a:extLst>
              </p:cNvPr>
              <p:cNvSpPr txBox="1"/>
              <p:nvPr/>
            </p:nvSpPr>
            <p:spPr>
              <a:xfrm>
                <a:off x="8313004" y="3149069"/>
                <a:ext cx="2060346" cy="10360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4000" dirty="0"/>
                  <a:t>Re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𝑢𝐿</m:t>
                        </m:r>
                      </m:num>
                      <m:den>
                        <m:r>
                          <a:rPr lang="en-US" sz="4000" b="0" i="1" smtClean="0">
                            <a:latin typeface="Cambria Math" panose="02040503050406030204" pitchFamily="18" charset="0"/>
                          </a:rPr>
                          <m:t>𝜇</m:t>
                        </m:r>
                      </m:den>
                    </m:f>
                  </m:oMath>
                </a14:m>
                <a:endParaRPr lang="en-US" sz="40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FD236DC-F568-D10F-BB01-F194B6791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13004" y="3149069"/>
                <a:ext cx="2060346" cy="1036053"/>
              </a:xfrm>
              <a:prstGeom prst="rect">
                <a:avLst/>
              </a:prstGeom>
              <a:blipFill>
                <a:blip r:embed="rId4"/>
                <a:stretch>
                  <a:fillRect l="-10651" b="-6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1695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6FAFB4-FE6E-897B-8410-9BB3771F0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5</a:t>
            </a:fld>
            <a:endParaRPr lang="en-US" dirty="0"/>
          </a:p>
        </p:txBody>
      </p:sp>
      <p:pic>
        <p:nvPicPr>
          <p:cNvPr id="3" name="Picture 2" descr="A graph with red and blue lines&#10;&#10;Description automatically generated">
            <a:extLst>
              <a:ext uri="{FF2B5EF4-FFF2-40B4-BE49-F238E27FC236}">
                <a16:creationId xmlns:a16="http://schemas.microsoft.com/office/drawing/2014/main" id="{439C3AB9-1FE0-7708-0A6B-512F6BEC0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7337" y="1308534"/>
            <a:ext cx="6053604" cy="404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441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e and red line&#10;&#10;Description automatically generated">
            <a:extLst>
              <a:ext uri="{FF2B5EF4-FFF2-40B4-BE49-F238E27FC236}">
                <a16:creationId xmlns:a16="http://schemas.microsoft.com/office/drawing/2014/main" id="{3BB7701C-EEE7-681F-D696-DE19EA784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8007" y="551918"/>
            <a:ext cx="3881396" cy="2607949"/>
          </a:xfrm>
          <a:prstGeom prst="rect">
            <a:avLst/>
          </a:prstGeom>
        </p:spPr>
      </p:pic>
      <p:pic>
        <p:nvPicPr>
          <p:cNvPr id="10" name="Content Placeholder 9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A4E83EF2-1E5D-9DCB-1D9A-697502DA23B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4"/>
          <a:stretch>
            <a:fillRect/>
          </a:stretch>
        </p:blipFill>
        <p:spPr>
          <a:xfrm>
            <a:off x="2326443" y="2716954"/>
            <a:ext cx="5124525" cy="3406775"/>
          </a:xfr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66CDC84-5C0E-AE72-8AE6-9166F99F9439}"/>
                  </a:ext>
                </a:extLst>
              </p:cNvPr>
              <p:cNvSpPr txBox="1"/>
              <p:nvPr/>
            </p:nvSpPr>
            <p:spPr>
              <a:xfrm>
                <a:off x="7818833" y="3880905"/>
                <a:ext cx="2332434" cy="61965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𝑖𝑛𝑑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Γ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×</m:t>
                          </m:r>
                          <m:acc>
                            <m:accPr>
                              <m:chr m:val="̂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</m:acc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66CDC84-5C0E-AE72-8AE6-9166F99F94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8833" y="3880905"/>
                <a:ext cx="2332434" cy="61965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Slide Number Placeholder 1">
            <a:extLst>
              <a:ext uri="{FF2B5EF4-FFF2-40B4-BE49-F238E27FC236}">
                <a16:creationId xmlns:a16="http://schemas.microsoft.com/office/drawing/2014/main" id="{3026F275-64EF-20A0-389D-FB90DE11B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4186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2A3EDE-20C9-AFE6-7A2D-3301BC1D5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7</a:t>
            </a:fld>
            <a:endParaRPr lang="en-US" dirty="0"/>
          </a:p>
        </p:txBody>
      </p:sp>
      <p:pic>
        <p:nvPicPr>
          <p:cNvPr id="15" name="Picture 14" descr="A red and blue lines&#10;&#10;Description automatically generated">
            <a:extLst>
              <a:ext uri="{FF2B5EF4-FFF2-40B4-BE49-F238E27FC236}">
                <a16:creationId xmlns:a16="http://schemas.microsoft.com/office/drawing/2014/main" id="{8A82C82E-BBC7-C2DF-0C88-14728162A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1416" y="481397"/>
            <a:ext cx="3863990" cy="2580344"/>
          </a:xfrm>
          <a:prstGeom prst="rect">
            <a:avLst/>
          </a:prstGeom>
        </p:spPr>
      </p:pic>
      <p:pic>
        <p:nvPicPr>
          <p:cNvPr id="21" name="Picture 20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0B1CB7C2-7C48-10A6-98A1-BDB3B6D1FF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24045" y="2675978"/>
            <a:ext cx="5006477" cy="3380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23642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2151139A-886F-4B97-8815-729AD3831B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B5E08C4-8CDD-4623-A5B8-E998C6DEE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492"/>
            <a:ext cx="12191998" cy="1575955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15F33878-D502-4FFA-8ACE-F2AECDB2A2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35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3539FEE-81D3-4406-802E-60B20B16F4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8" y="-5307777"/>
            <a:ext cx="1576446" cy="12192001"/>
          </a:xfrm>
          <a:prstGeom prst="rect">
            <a:avLst/>
          </a:prstGeom>
          <a:gradFill>
            <a:gsLst>
              <a:gs pos="16000">
                <a:srgbClr val="000000">
                  <a:alpha val="0"/>
                </a:srgbClr>
              </a:gs>
              <a:gs pos="99000">
                <a:srgbClr val="000000">
                  <a:alpha val="87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DC701763-729E-462F-A5A8-E0DEFEB1E2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5434" y="986"/>
            <a:ext cx="4303422" cy="1575461"/>
          </a:xfrm>
          <a:prstGeom prst="rect">
            <a:avLst/>
          </a:prstGeom>
          <a:gradFill>
            <a:gsLst>
              <a:gs pos="0">
                <a:schemeClr val="accent1">
                  <a:alpha val="17000"/>
                </a:schemeClr>
              </a:gs>
              <a:gs pos="74000">
                <a:schemeClr val="accent1">
                  <a:lumMod val="5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32731C-311B-46F7-A865-6C3AF6B0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4" y="353160"/>
            <a:ext cx="7091300" cy="89858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Airframe Analysis</a:t>
            </a:r>
          </a:p>
        </p:txBody>
      </p:sp>
      <p:pic>
        <p:nvPicPr>
          <p:cNvPr id="4" name="Picture 3" descr="A blue and white grid&#10;&#10;Description automatically generated">
            <a:extLst>
              <a:ext uri="{FF2B5EF4-FFF2-40B4-BE49-F238E27FC236}">
                <a16:creationId xmlns:a16="http://schemas.microsoft.com/office/drawing/2014/main" id="{43A78D6A-0548-3CC1-A3A4-C886DF07CE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748" y="2480572"/>
            <a:ext cx="5131088" cy="3399344"/>
          </a:xfrm>
          <a:prstGeom prst="rect">
            <a:avLst/>
          </a:prstGeom>
        </p:spPr>
      </p:pic>
      <p:pic>
        <p:nvPicPr>
          <p:cNvPr id="24" name="Picture 23" descr="A blue and red grid&#10;&#10;Description automatically generated">
            <a:extLst>
              <a:ext uri="{FF2B5EF4-FFF2-40B4-BE49-F238E27FC236}">
                <a16:creationId xmlns:a16="http://schemas.microsoft.com/office/drawing/2014/main" id="{ADD95A84-8C64-6C9A-91AD-7F8DFA60BC2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165" y="2510644"/>
            <a:ext cx="5131087" cy="3412172"/>
          </a:xfrm>
          <a:prstGeom prst="rect">
            <a:avLst/>
          </a:prstGeom>
        </p:spPr>
      </p:pic>
      <p:sp>
        <p:nvSpPr>
          <p:cNvPr id="5" name="Slide Number Placeholder 1">
            <a:extLst>
              <a:ext uri="{FF2B5EF4-FFF2-40B4-BE49-F238E27FC236}">
                <a16:creationId xmlns:a16="http://schemas.microsoft.com/office/drawing/2014/main" id="{2BD9F90B-41DA-BA17-EE1D-6AA2669F6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31079"/>
            <a:ext cx="448056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F9FDB0-1622-CA82-5326-6AF85875B8F4}"/>
              </a:ext>
            </a:extLst>
          </p:cNvPr>
          <p:cNvSpPr txBox="1">
            <a:spLocks/>
          </p:cNvSpPr>
          <p:nvPr/>
        </p:nvSpPr>
        <p:spPr>
          <a:xfrm>
            <a:off x="1205636" y="1438720"/>
            <a:ext cx="5907176" cy="25368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6505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B26486F-59F2-CBF9-F77F-A632AE3D4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9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9F098A-DE47-E026-E7D8-CDE0109131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0293" y="1170852"/>
            <a:ext cx="7911413" cy="4516296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03D1C44-385C-AD30-E277-89585DD0BA8C}"/>
              </a:ext>
            </a:extLst>
          </p:cNvPr>
          <p:cNvSpPr/>
          <p:nvPr/>
        </p:nvSpPr>
        <p:spPr>
          <a:xfrm>
            <a:off x="3357914" y="1406849"/>
            <a:ext cx="2630656" cy="369332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117C69-867F-35D3-9EE1-1F6773468042}"/>
              </a:ext>
            </a:extLst>
          </p:cNvPr>
          <p:cNvSpPr txBox="1"/>
          <p:nvPr/>
        </p:nvSpPr>
        <p:spPr>
          <a:xfrm rot="16200000">
            <a:off x="794478" y="3166672"/>
            <a:ext cx="2849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Lift / Drag Coefficient Ratio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4D0083-9AD1-23EF-3E4A-63748D1EDCE2}"/>
              </a:ext>
            </a:extLst>
          </p:cNvPr>
          <p:cNvSpPr txBox="1"/>
          <p:nvPr/>
        </p:nvSpPr>
        <p:spPr>
          <a:xfrm>
            <a:off x="5922169" y="5652417"/>
            <a:ext cx="1450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Aspect Ratio</a:t>
            </a:r>
          </a:p>
        </p:txBody>
      </p:sp>
    </p:spTree>
    <p:extLst>
      <p:ext uri="{BB962C8B-B14F-4D97-AF65-F5344CB8AC3E}">
        <p14:creationId xmlns:p14="http://schemas.microsoft.com/office/powerpoint/2010/main" val="11620909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 descr="A blue and red grid&#10;&#10;Description automatically generated">
            <a:extLst>
              <a:ext uri="{FF2B5EF4-FFF2-40B4-BE49-F238E27FC236}">
                <a16:creationId xmlns:a16="http://schemas.microsoft.com/office/drawing/2014/main" id="{ADD95A84-8C64-6C9A-91AD-7F8DFA60BC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7250" y="1693185"/>
            <a:ext cx="5440300" cy="36219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842004-9AF0-7CD2-9D5D-D30CD6AC1060}"/>
                  </a:ext>
                </a:extLst>
              </p:cNvPr>
              <p:cNvSpPr txBox="1"/>
              <p:nvPr/>
            </p:nvSpPr>
            <p:spPr>
              <a:xfrm>
                <a:off x="5259674" y="3191191"/>
                <a:ext cx="6097248" cy="113332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36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num>
                        <m:den>
                          <m:r>
                            <a:rPr lang="en-US" sz="36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acc>
                            <m:accPr>
                              <m:chr m:val="̅"/>
                              <m:ctrlP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3600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</m:acc>
                        </m:den>
                      </m:f>
                    </m:oMath>
                  </m:oMathPara>
                </a14:m>
                <a:endParaRPr lang="en-US" sz="3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04842004-9AF0-7CD2-9D5D-D30CD6AC10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59674" y="3191191"/>
                <a:ext cx="6097248" cy="113332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Slide Number Placeholder 1">
            <a:extLst>
              <a:ext uri="{FF2B5EF4-FFF2-40B4-BE49-F238E27FC236}">
                <a16:creationId xmlns:a16="http://schemas.microsoft.com/office/drawing/2014/main" id="{27373DB8-0FF9-2A5D-A35A-A9C92BD6FC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6440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F9FDB0-1622-CA82-5326-6AF85875B8F4}"/>
              </a:ext>
            </a:extLst>
          </p:cNvPr>
          <p:cNvSpPr txBox="1">
            <a:spLocks/>
          </p:cNvSpPr>
          <p:nvPr/>
        </p:nvSpPr>
        <p:spPr>
          <a:xfrm>
            <a:off x="1220626" y="1065918"/>
            <a:ext cx="5907176" cy="25368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02C002-C4FD-668E-31D2-1FFFDAFDAFDC}"/>
              </a:ext>
            </a:extLst>
          </p:cNvPr>
          <p:cNvSpPr/>
          <p:nvPr/>
        </p:nvSpPr>
        <p:spPr>
          <a:xfrm>
            <a:off x="4604671" y="1815812"/>
            <a:ext cx="757004" cy="3447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BB3428-5DD1-C9BB-663F-7D0F45143037}"/>
              </a:ext>
            </a:extLst>
          </p:cNvPr>
          <p:cNvSpPr/>
          <p:nvPr/>
        </p:nvSpPr>
        <p:spPr>
          <a:xfrm>
            <a:off x="5833671" y="3661404"/>
            <a:ext cx="757004" cy="3447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lide Number Placeholder 1">
            <a:extLst>
              <a:ext uri="{FF2B5EF4-FFF2-40B4-BE49-F238E27FC236}">
                <a16:creationId xmlns:a16="http://schemas.microsoft.com/office/drawing/2014/main" id="{62ED3511-2CF8-473A-A94F-8FE830F34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t>11</a:t>
            </a:fld>
            <a:endParaRPr lang="en-US" dirty="0"/>
          </a:p>
        </p:txBody>
      </p:sp>
      <p:pic>
        <p:nvPicPr>
          <p:cNvPr id="32" name="Picture 31" descr="A graph with a line going up&#10;&#10;Description automatically generated">
            <a:extLst>
              <a:ext uri="{FF2B5EF4-FFF2-40B4-BE49-F238E27FC236}">
                <a16:creationId xmlns:a16="http://schemas.microsoft.com/office/drawing/2014/main" id="{C18C53CC-DE70-0BBA-A9F6-6CEED90A1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0962" y="533815"/>
            <a:ext cx="4182261" cy="2788174"/>
          </a:xfrm>
          <a:prstGeom prst="rect">
            <a:avLst/>
          </a:prstGeom>
        </p:spPr>
      </p:pic>
      <p:pic>
        <p:nvPicPr>
          <p:cNvPr id="34" name="Picture 33" descr="A graph with a line&#10;&#10;Description automatically generated">
            <a:extLst>
              <a:ext uri="{FF2B5EF4-FFF2-40B4-BE49-F238E27FC236}">
                <a16:creationId xmlns:a16="http://schemas.microsoft.com/office/drawing/2014/main" id="{733BF10A-C140-6899-79DB-964F6EBBE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5029" y="3526156"/>
            <a:ext cx="4429592" cy="2953061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3D93C01-1D55-AA1D-FCF0-E61DBF25C3EA}"/>
              </a:ext>
            </a:extLst>
          </p:cNvPr>
          <p:cNvSpPr/>
          <p:nvPr/>
        </p:nvSpPr>
        <p:spPr>
          <a:xfrm>
            <a:off x="7437617" y="3661403"/>
            <a:ext cx="577123" cy="2453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CC551B-3F25-107F-7354-40760B10A930}"/>
              </a:ext>
            </a:extLst>
          </p:cNvPr>
          <p:cNvSpPr/>
          <p:nvPr/>
        </p:nvSpPr>
        <p:spPr>
          <a:xfrm>
            <a:off x="1401578" y="3357354"/>
            <a:ext cx="577123" cy="2453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4E2D9F7-EE87-C512-74EC-A7EBC3C6D631}"/>
              </a:ext>
            </a:extLst>
          </p:cNvPr>
          <p:cNvSpPr/>
          <p:nvPr/>
        </p:nvSpPr>
        <p:spPr>
          <a:xfrm>
            <a:off x="7722627" y="669062"/>
            <a:ext cx="615218" cy="25796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D167545-5A7B-F45A-D55E-17542E0CBBCE}"/>
              </a:ext>
            </a:extLst>
          </p:cNvPr>
          <p:cNvSpPr/>
          <p:nvPr/>
        </p:nvSpPr>
        <p:spPr>
          <a:xfrm>
            <a:off x="4027379" y="6299237"/>
            <a:ext cx="782212" cy="2396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621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F9FDB0-1622-CA82-5326-6AF85875B8F4}"/>
              </a:ext>
            </a:extLst>
          </p:cNvPr>
          <p:cNvSpPr txBox="1">
            <a:spLocks/>
          </p:cNvSpPr>
          <p:nvPr/>
        </p:nvSpPr>
        <p:spPr>
          <a:xfrm>
            <a:off x="1220626" y="1065918"/>
            <a:ext cx="5907176" cy="25368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9BB3428-5DD1-C9BB-663F-7D0F45143037}"/>
              </a:ext>
            </a:extLst>
          </p:cNvPr>
          <p:cNvSpPr/>
          <p:nvPr/>
        </p:nvSpPr>
        <p:spPr>
          <a:xfrm>
            <a:off x="8479435" y="271773"/>
            <a:ext cx="757004" cy="3447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Slide Number Placeholder 1">
            <a:extLst>
              <a:ext uri="{FF2B5EF4-FFF2-40B4-BE49-F238E27FC236}">
                <a16:creationId xmlns:a16="http://schemas.microsoft.com/office/drawing/2014/main" id="{62ED3511-2CF8-473A-A94F-8FE830F34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t>12</a:t>
            </a:fld>
            <a:endParaRPr lang="en-US" dirty="0"/>
          </a:p>
        </p:txBody>
      </p:sp>
      <p:pic>
        <p:nvPicPr>
          <p:cNvPr id="36" name="Picture 35" descr="A graph with a line&#10;&#10;Description automatically generated">
            <a:extLst>
              <a:ext uri="{FF2B5EF4-FFF2-40B4-BE49-F238E27FC236}">
                <a16:creationId xmlns:a16="http://schemas.microsoft.com/office/drawing/2014/main" id="{BEE88199-3BC8-1AAC-8D28-2225E57C1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524" y="3523125"/>
            <a:ext cx="4606978" cy="3071318"/>
          </a:xfrm>
          <a:prstGeom prst="rect">
            <a:avLst/>
          </a:prstGeom>
        </p:spPr>
      </p:pic>
      <p:pic>
        <p:nvPicPr>
          <p:cNvPr id="40" name="Picture 39" descr="A graph with a line&#10;&#10;Description automatically generated">
            <a:extLst>
              <a:ext uri="{FF2B5EF4-FFF2-40B4-BE49-F238E27FC236}">
                <a16:creationId xmlns:a16="http://schemas.microsoft.com/office/drawing/2014/main" id="{90C70DEC-699E-D582-3112-DEF0028855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8105" y="348975"/>
            <a:ext cx="4415789" cy="2943859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33D93C01-1D55-AA1D-FCF0-E61DBF25C3EA}"/>
              </a:ext>
            </a:extLst>
          </p:cNvPr>
          <p:cNvSpPr/>
          <p:nvPr/>
        </p:nvSpPr>
        <p:spPr>
          <a:xfrm>
            <a:off x="10083381" y="271772"/>
            <a:ext cx="577123" cy="2453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A7CC551B-3F25-107F-7354-40760B10A930}"/>
              </a:ext>
            </a:extLst>
          </p:cNvPr>
          <p:cNvSpPr/>
          <p:nvPr/>
        </p:nvSpPr>
        <p:spPr>
          <a:xfrm>
            <a:off x="1401578" y="3357354"/>
            <a:ext cx="577123" cy="2453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64E2D9F7-EE87-C512-74EC-A7EBC3C6D631}"/>
              </a:ext>
            </a:extLst>
          </p:cNvPr>
          <p:cNvSpPr/>
          <p:nvPr/>
        </p:nvSpPr>
        <p:spPr>
          <a:xfrm>
            <a:off x="4429594" y="271772"/>
            <a:ext cx="615218" cy="25796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702C002-C4FD-668E-31D2-1FFFDAFDAFDC}"/>
              </a:ext>
            </a:extLst>
          </p:cNvPr>
          <p:cNvSpPr/>
          <p:nvPr/>
        </p:nvSpPr>
        <p:spPr>
          <a:xfrm>
            <a:off x="4358701" y="444159"/>
            <a:ext cx="757004" cy="344773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000132C-98E2-A4DB-56EE-37B6CDB23386}"/>
              </a:ext>
            </a:extLst>
          </p:cNvPr>
          <p:cNvSpPr/>
          <p:nvPr/>
        </p:nvSpPr>
        <p:spPr>
          <a:xfrm>
            <a:off x="10961203" y="4184587"/>
            <a:ext cx="577123" cy="245389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3D167545-5A7B-F45A-D55E-17542E0CBBCE}"/>
              </a:ext>
            </a:extLst>
          </p:cNvPr>
          <p:cNvSpPr/>
          <p:nvPr/>
        </p:nvSpPr>
        <p:spPr>
          <a:xfrm>
            <a:off x="7597290" y="3687113"/>
            <a:ext cx="782212" cy="23967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9407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F9FDB0-1622-CA82-5326-6AF85875B8F4}"/>
              </a:ext>
            </a:extLst>
          </p:cNvPr>
          <p:cNvSpPr txBox="1">
            <a:spLocks/>
          </p:cNvSpPr>
          <p:nvPr/>
        </p:nvSpPr>
        <p:spPr>
          <a:xfrm>
            <a:off x="1205636" y="1438720"/>
            <a:ext cx="5907176" cy="25368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dirty="0"/>
          </a:p>
        </p:txBody>
      </p:sp>
      <p:pic>
        <p:nvPicPr>
          <p:cNvPr id="3" name="Picture 2" descr="A graph with a blue line&#10;&#10;Description automatically generated">
            <a:extLst>
              <a:ext uri="{FF2B5EF4-FFF2-40B4-BE49-F238E27FC236}">
                <a16:creationId xmlns:a16="http://schemas.microsoft.com/office/drawing/2014/main" id="{D9532686-5102-E7FB-2484-FB0E63A495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272" y="2039046"/>
            <a:ext cx="4791744" cy="3194496"/>
          </a:xfrm>
          <a:prstGeom prst="rect">
            <a:avLst/>
          </a:prstGeom>
        </p:spPr>
      </p:pic>
      <p:pic>
        <p:nvPicPr>
          <p:cNvPr id="5" name="Picture 4" descr="A graph with a line&#10;&#10;Description automatically generated">
            <a:extLst>
              <a:ext uri="{FF2B5EF4-FFF2-40B4-BE49-F238E27FC236}">
                <a16:creationId xmlns:a16="http://schemas.microsoft.com/office/drawing/2014/main" id="{BC8760FC-DF62-82AB-7F0E-157699B3BB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595" y="2001565"/>
            <a:ext cx="4904186" cy="32694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439237F-C449-E91F-73E6-DB19E9417634}"/>
              </a:ext>
            </a:extLst>
          </p:cNvPr>
          <p:cNvSpPr/>
          <p:nvPr/>
        </p:nvSpPr>
        <p:spPr>
          <a:xfrm>
            <a:off x="1521619" y="2178842"/>
            <a:ext cx="571500" cy="23574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AE4B121-59CE-5A39-6BAC-2FF8F9DC89E9}"/>
              </a:ext>
            </a:extLst>
          </p:cNvPr>
          <p:cNvSpPr/>
          <p:nvPr/>
        </p:nvSpPr>
        <p:spPr>
          <a:xfrm>
            <a:off x="10254833" y="2210231"/>
            <a:ext cx="628025" cy="23574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Slide Number Placeholder 1">
            <a:extLst>
              <a:ext uri="{FF2B5EF4-FFF2-40B4-BE49-F238E27FC236}">
                <a16:creationId xmlns:a16="http://schemas.microsoft.com/office/drawing/2014/main" id="{1CC54B4D-17E6-049C-1633-2AA845628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696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326" name="Rectangle 13325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314" name="Picture 2" descr="3D Gaussian distribution graph">
            <a:extLst>
              <a:ext uri="{FF2B5EF4-FFF2-40B4-BE49-F238E27FC236}">
                <a16:creationId xmlns:a16="http://schemas.microsoft.com/office/drawing/2014/main" id="{758B6988-EB0F-EA8F-7311-7B2B145C2B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911" b="16166"/>
          <a:stretch/>
        </p:blipFill>
        <p:spPr bwMode="auto">
          <a:xfrm>
            <a:off x="1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28" name="Rectangle 13327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E2B5B1-88BF-15EE-E794-0B9423BC52BA}"/>
              </a:ext>
            </a:extLst>
          </p:cNvPr>
          <p:cNvSpPr txBox="1"/>
          <p:nvPr/>
        </p:nvSpPr>
        <p:spPr>
          <a:xfrm>
            <a:off x="7142813" y="743447"/>
            <a:ext cx="5403953" cy="2247091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dirty="0">
                <a:latin typeface="+mj-lt"/>
                <a:ea typeface="+mj-ea"/>
                <a:cs typeface="+mj-cs"/>
              </a:rPr>
              <a:t>Wing Optimization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006D60-42CC-0B71-280C-8E8E717B6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  <a:defRPr/>
            </a:pPr>
            <a:fld id="{A49DFD55-3C28-40EF-9E31-A92D2E4017FF}" type="slidenum">
              <a:rPr lang="en-US">
                <a:solidFill>
                  <a:prstClr val="black">
                    <a:tint val="75000"/>
                  </a:prstClr>
                </a:solidFill>
                <a:latin typeface="Calibri" panose="020F0502020204030204"/>
              </a:rPr>
              <a:pPr>
                <a:spcAft>
                  <a:spcPts val="600"/>
                </a:spcAft>
                <a:defRPr/>
              </a:pPr>
              <a:t>14</a:t>
            </a:fld>
            <a:endParaRPr lang="en-US">
              <a:solidFill>
                <a:prstClr val="black">
                  <a:tint val="75000"/>
                </a:prstClr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3281453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F9FDB0-1622-CA82-5326-6AF85875B8F4}"/>
              </a:ext>
            </a:extLst>
          </p:cNvPr>
          <p:cNvSpPr txBox="1">
            <a:spLocks/>
          </p:cNvSpPr>
          <p:nvPr/>
        </p:nvSpPr>
        <p:spPr>
          <a:xfrm>
            <a:off x="1205636" y="1438720"/>
            <a:ext cx="5907176" cy="25368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7CD125D7-D999-748D-D607-8A32DB26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t>15</a:t>
            </a:fld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EAE2C51-E854-4757-9EAB-E7C02D4A00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6995" y="2423972"/>
            <a:ext cx="6878010" cy="2010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4961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2F667EB-BA63-5A24-3250-F67C763F5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t>16</a:t>
            </a:fld>
            <a:endParaRPr lang="en-US" dirty="0"/>
          </a:p>
        </p:txBody>
      </p:sp>
      <p:pic>
        <p:nvPicPr>
          <p:cNvPr id="3" name="Picture 2" descr="A black and white drawing of a spider web&#10;&#10;Description automatically generated">
            <a:extLst>
              <a:ext uri="{FF2B5EF4-FFF2-40B4-BE49-F238E27FC236}">
                <a16:creationId xmlns:a16="http://schemas.microsoft.com/office/drawing/2014/main" id="{E9EE55DA-B65B-8648-65DC-A4F340B1A9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4428" y="1211013"/>
            <a:ext cx="7604524" cy="4435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568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F9FDB0-1622-CA82-5326-6AF85875B8F4}"/>
              </a:ext>
            </a:extLst>
          </p:cNvPr>
          <p:cNvSpPr txBox="1">
            <a:spLocks/>
          </p:cNvSpPr>
          <p:nvPr/>
        </p:nvSpPr>
        <p:spPr>
          <a:xfrm>
            <a:off x="1205636" y="1438720"/>
            <a:ext cx="5907176" cy="25368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dirty="0"/>
          </a:p>
        </p:txBody>
      </p:sp>
      <p:sp>
        <p:nvSpPr>
          <p:cNvPr id="11" name="Slide Number Placeholder 1">
            <a:extLst>
              <a:ext uri="{FF2B5EF4-FFF2-40B4-BE49-F238E27FC236}">
                <a16:creationId xmlns:a16="http://schemas.microsoft.com/office/drawing/2014/main" id="{7CD125D7-D999-748D-D607-8A32DB26D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t>17</a:t>
            </a:fld>
            <a:endParaRPr lang="en-US" dirty="0"/>
          </a:p>
        </p:txBody>
      </p:sp>
      <p:pic>
        <p:nvPicPr>
          <p:cNvPr id="13" name="Picture 12" descr="A black and white lines&#10;&#10;Description automatically generated with medium confidence">
            <a:extLst>
              <a:ext uri="{FF2B5EF4-FFF2-40B4-BE49-F238E27FC236}">
                <a16:creationId xmlns:a16="http://schemas.microsoft.com/office/drawing/2014/main" id="{CEB5A6EA-4D3C-B73C-DC7E-2688A7342C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2691" y="1426882"/>
            <a:ext cx="5842646" cy="4284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8892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F9FDB0-1622-CA82-5326-6AF85875B8F4}"/>
              </a:ext>
            </a:extLst>
          </p:cNvPr>
          <p:cNvSpPr txBox="1">
            <a:spLocks/>
          </p:cNvSpPr>
          <p:nvPr/>
        </p:nvSpPr>
        <p:spPr>
          <a:xfrm>
            <a:off x="1205636" y="1438720"/>
            <a:ext cx="5907176" cy="25368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dirty="0"/>
          </a:p>
        </p:txBody>
      </p:sp>
      <p:pic>
        <p:nvPicPr>
          <p:cNvPr id="10" name="Picture 9" descr="A black and white image of a circle with lines&#10;&#10;Description automatically generated">
            <a:extLst>
              <a:ext uri="{FF2B5EF4-FFF2-40B4-BE49-F238E27FC236}">
                <a16:creationId xmlns:a16="http://schemas.microsoft.com/office/drawing/2014/main" id="{D1527CAB-54A2-8C0E-9B24-B7665CED4E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3492" y="3845990"/>
            <a:ext cx="3626602" cy="2645123"/>
          </a:xfrm>
          <a:prstGeom prst="rect">
            <a:avLst/>
          </a:prstGeom>
        </p:spPr>
      </p:pic>
      <p:pic>
        <p:nvPicPr>
          <p:cNvPr id="3" name="Picture 2" descr="A black and white lines&#10;&#10;Description automatically generated with medium confidence">
            <a:extLst>
              <a:ext uri="{FF2B5EF4-FFF2-40B4-BE49-F238E27FC236}">
                <a16:creationId xmlns:a16="http://schemas.microsoft.com/office/drawing/2014/main" id="{D604BBEF-3560-173F-DA1B-E62C8148E1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3492" y="1246764"/>
            <a:ext cx="3524094" cy="2584335"/>
          </a:xfrm>
          <a:prstGeom prst="rect">
            <a:avLst/>
          </a:prstGeom>
        </p:spPr>
      </p:pic>
      <p:pic>
        <p:nvPicPr>
          <p:cNvPr id="6" name="Picture 5" descr="A graph of a curve&#10;&#10;Description automatically generated">
            <a:extLst>
              <a:ext uri="{FF2B5EF4-FFF2-40B4-BE49-F238E27FC236}">
                <a16:creationId xmlns:a16="http://schemas.microsoft.com/office/drawing/2014/main" id="{C011DF58-B5AD-D887-47C6-442BFF7B83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44678" y="1297453"/>
            <a:ext cx="3822806" cy="2548537"/>
          </a:xfrm>
          <a:prstGeom prst="rect">
            <a:avLst/>
          </a:prstGeom>
        </p:spPr>
      </p:pic>
      <p:pic>
        <p:nvPicPr>
          <p:cNvPr id="11" name="Picture 10" descr="A graph of a curve&#10;&#10;Description automatically generated">
            <a:extLst>
              <a:ext uri="{FF2B5EF4-FFF2-40B4-BE49-F238E27FC236}">
                <a16:creationId xmlns:a16="http://schemas.microsoft.com/office/drawing/2014/main" id="{02B39C5C-B639-53E8-4B99-F39F9C5E57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3564" y="4072470"/>
            <a:ext cx="3482579" cy="232171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FDAD042F-241F-A193-D08F-A28E5A75E4DE}"/>
              </a:ext>
            </a:extLst>
          </p:cNvPr>
          <p:cNvSpPr txBox="1"/>
          <p:nvPr/>
        </p:nvSpPr>
        <p:spPr>
          <a:xfrm>
            <a:off x="2808208" y="5799843"/>
            <a:ext cx="313783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25x6, </a:t>
            </a:r>
            <a:r>
              <a:rPr lang="en-US" sz="1400" dirty="0" err="1"/>
              <a:t>sd</a:t>
            </a:r>
            <a:r>
              <a:rPr lang="en-US" sz="1400" dirty="0"/>
              <a:t> = 0.003539906737094895</a:t>
            </a:r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C1E4434-3400-27F4-DBEE-98D3B4F6F32A}"/>
              </a:ext>
            </a:extLst>
          </p:cNvPr>
          <p:cNvSpPr txBox="1"/>
          <p:nvPr/>
        </p:nvSpPr>
        <p:spPr>
          <a:xfrm>
            <a:off x="2895658" y="3170900"/>
            <a:ext cx="30503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4x6, </a:t>
            </a:r>
            <a:r>
              <a:rPr lang="en-US" sz="1400" dirty="0" err="1"/>
              <a:t>sd</a:t>
            </a:r>
            <a:r>
              <a:rPr lang="en-US" sz="1400" dirty="0"/>
              <a:t> = 0.012817921294912426</a:t>
            </a:r>
          </a:p>
        </p:txBody>
      </p:sp>
      <p:sp>
        <p:nvSpPr>
          <p:cNvPr id="17" name="Slide Number Placeholder 1">
            <a:extLst>
              <a:ext uri="{FF2B5EF4-FFF2-40B4-BE49-F238E27FC236}">
                <a16:creationId xmlns:a16="http://schemas.microsoft.com/office/drawing/2014/main" id="{BC090A5B-7752-E522-82E0-BFE95207C0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670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E3FA7856-525E-51D4-C69C-D56EF5507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93847" y="1081918"/>
            <a:ext cx="5884027" cy="1204912"/>
          </a:xfrm>
        </p:spPr>
        <p:txBody>
          <a:bodyPr/>
          <a:lstStyle/>
          <a:p>
            <a:r>
              <a:rPr lang="en-US" dirty="0"/>
              <a:t>Future Work</a:t>
            </a:r>
          </a:p>
        </p:txBody>
      </p:sp>
      <p:sp>
        <p:nvSpPr>
          <p:cNvPr id="21" name="Slide Number Placeholder 3">
            <a:extLst>
              <a:ext uri="{FF2B5EF4-FFF2-40B4-BE49-F238E27FC236}">
                <a16:creationId xmlns:a16="http://schemas.microsoft.com/office/drawing/2014/main" id="{F22A00FD-56E5-8F29-3685-F31CDFC44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19</a:t>
            </a:fld>
            <a:endParaRPr lang="en-US"/>
          </a:p>
        </p:txBody>
      </p:sp>
      <p:sp>
        <p:nvSpPr>
          <p:cNvPr id="23" name="Content Placeholder 4">
            <a:extLst>
              <a:ext uri="{FF2B5EF4-FFF2-40B4-BE49-F238E27FC236}">
                <a16:creationId xmlns:a16="http://schemas.microsoft.com/office/drawing/2014/main" id="{4E9EE910-6433-473D-764B-4CBF3611387D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3793847" y="2707133"/>
            <a:ext cx="5907176" cy="2536826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Optimizer requires ball-park initial chord distribution in order to find analytical solution. Explore better-defining feasible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Optimize twist rather than chord.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Look-up table to predict stall.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Splines and Sine-spacing to decrease number of design variables.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9F9FDB0-1622-CA82-5326-6AF85875B8F4}"/>
              </a:ext>
            </a:extLst>
          </p:cNvPr>
          <p:cNvSpPr txBox="1">
            <a:spLocks/>
          </p:cNvSpPr>
          <p:nvPr/>
        </p:nvSpPr>
        <p:spPr>
          <a:xfrm>
            <a:off x="1205636" y="1438720"/>
            <a:ext cx="5907176" cy="2536826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10073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top view of a supermarine spitfire">
            <a:extLst>
              <a:ext uri="{FF2B5EF4-FFF2-40B4-BE49-F238E27FC236}">
                <a16:creationId xmlns:a16="http://schemas.microsoft.com/office/drawing/2014/main" id="{F5863D55-0E98-E714-3DD5-2B52EF2AC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C411EEF4-25EB-6771-CDDB-BFE4E4618FCB}"/>
              </a:ext>
            </a:extLst>
          </p:cNvPr>
          <p:cNvSpPr txBox="1">
            <a:spLocks/>
          </p:cNvSpPr>
          <p:nvPr/>
        </p:nvSpPr>
        <p:spPr>
          <a:xfrm>
            <a:off x="4485900" y="6016934"/>
            <a:ext cx="4179570" cy="152473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THANK YOU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107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2132</TotalTime>
  <Words>636</Words>
  <Application>Microsoft Office PowerPoint</Application>
  <PresentationFormat>Widescreen</PresentationFormat>
  <Paragraphs>115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Cambria Math</vt:lpstr>
      <vt:lpstr>Office Theme</vt:lpstr>
      <vt:lpstr>ME 497R –  Mentored Research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Airframe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Future Work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Samuel Nasman</dc:creator>
  <cp:lastModifiedBy>Samuel Nasman</cp:lastModifiedBy>
  <cp:revision>6</cp:revision>
  <dcterms:created xsi:type="dcterms:W3CDTF">2024-08-09T20:05:17Z</dcterms:created>
  <dcterms:modified xsi:type="dcterms:W3CDTF">2024-08-12T19:48:35Z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